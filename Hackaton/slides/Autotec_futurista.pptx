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3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645920"/>
            <a:ext cx="5029200" cy="4114800"/>
          </a:xfrm>
          <a:prstGeom prst="ellipse">
            <a:avLst/>
          </a:prstGeom>
          <a:solidFill>
            <a:srgbClr val="7B2C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0" y="3108960"/>
            <a:ext cx="4114800" cy="3200400"/>
          </a:xfrm>
          <a:prstGeom prst="ellipse">
            <a:avLst/>
          </a:prstGeom>
          <a:solidFill>
            <a:srgbClr val="FF2BD6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914400"/>
            <a:ext cx="9144000" cy="9144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828800"/>
            <a:ext cx="9144000" cy="9144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2743200"/>
            <a:ext cx="9144000" cy="9144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3657600"/>
            <a:ext cx="9144000" cy="9144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4572000"/>
            <a:ext cx="9144000" cy="9144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F7FF"/>
                </a:solidFill>
                <a:latin typeface="Orbitron"/>
              </a:rPr>
              <a:t>RIO DO SUL </a:t>
            </a:r>
            <a:r>
              <a:rPr sz="1300" b="1">
                <a:solidFill>
                  <a:srgbClr val="22E6FF"/>
                </a:solidFill>
                <a:latin typeface="Orbitron"/>
              </a:rPr>
              <a:t>MAIS TEC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9260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2BD6"/>
                </a:solidFill>
                <a:latin typeface="Share Tech Mono"/>
              </a:rPr>
              <a:t>HACKATHON DO FUTURO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21792"/>
            <a:ext cx="8229600" cy="18288"/>
          </a:xfrm>
          <a:prstGeom prst="rect">
            <a:avLst/>
          </a:prstGeom>
          <a:solidFill>
            <a:srgbClr val="22E6F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E6F7FF"/>
                </a:solidFill>
                <a:latin typeface="Orbitron"/>
              </a:rPr>
              <a:t>AUTOTEC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783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E6F7FF"/>
                </a:solidFill>
                <a:latin typeface="Share Tech Mono"/>
              </a:rPr>
              <a:t>Rio do Sul </a:t>
            </a:r>
            <a:r>
              <a:rPr sz="1800" b="1">
                <a:solidFill>
                  <a:srgbClr val="22E6FF"/>
                </a:solidFill>
                <a:latin typeface="Share Tech Mono"/>
              </a:rPr>
              <a:t>Mais Tec</a:t>
            </a:r>
            <a:r>
              <a:rPr sz="1800" b="0">
                <a:solidFill>
                  <a:srgbClr val="8FA3C7"/>
                </a:solidFill>
                <a:latin typeface="Share Tech Mono"/>
              </a:rPr>
              <a:t>  ·  Hackathon do Futuro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331720"/>
            <a:ext cx="8229600" cy="566928"/>
          </a:xfrm>
          <a:prstGeom prst="roundRect">
            <a:avLst>
              <a:gd name="adj" fmla="val 18000"/>
            </a:avLst>
          </a:prstGeom>
          <a:solidFill>
            <a:srgbClr val="100A24">
              <a:alpha val="85000"/>
            </a:srgbClr>
          </a:solidFill>
          <a:ln w="15875">
            <a:solidFill>
              <a:srgbClr val="22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331720"/>
            <a:ext cx="548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2BD6"/>
                </a:solidFill>
                <a:latin typeface="Orbitron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2377439"/>
            <a:ext cx="72237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E6F7FF"/>
                </a:solidFill>
                <a:latin typeface="Share Tech Mono"/>
              </a:rPr>
              <a:t>Segurança para quem atravessa perto das escolas de Rio do Sul.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026663"/>
            <a:ext cx="8229600" cy="566928"/>
          </a:xfrm>
          <a:prstGeom prst="roundRect">
            <a:avLst>
              <a:gd name="adj" fmla="val 18000"/>
            </a:avLst>
          </a:prstGeom>
          <a:solidFill>
            <a:srgbClr val="100A24">
              <a:alpha val="85000"/>
            </a:srgbClr>
          </a:solidFill>
          <a:ln w="15875">
            <a:solidFill>
              <a:srgbClr val="22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3026663"/>
            <a:ext cx="548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2BD6"/>
                </a:solidFill>
                <a:latin typeface="Orbitron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3072383"/>
            <a:ext cx="72237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E6F7FF"/>
                </a:solidFill>
                <a:latin typeface="Share Tech Mono"/>
              </a:rPr>
              <a:t>Uma solução para scooters e bicicletas elétricas nas ciclofaixas.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721608"/>
            <a:ext cx="8229600" cy="566928"/>
          </a:xfrm>
          <a:prstGeom prst="roundRect">
            <a:avLst>
              <a:gd name="adj" fmla="val 18000"/>
            </a:avLst>
          </a:prstGeom>
          <a:solidFill>
            <a:srgbClr val="100A24">
              <a:alpha val="85000"/>
            </a:srgbClr>
          </a:solidFill>
          <a:ln w="15875">
            <a:solidFill>
              <a:srgbClr val="22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3721608"/>
            <a:ext cx="548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2BD6"/>
                </a:solidFill>
                <a:latin typeface="Orbitron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3767328"/>
            <a:ext cx="72237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E6F7FF"/>
                </a:solidFill>
                <a:latin typeface="Share Tech Mono"/>
              </a:rPr>
              <a:t>Nosso desafio: como podemos melhorar nossa cidade?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75488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2E6FF"/>
                </a:solidFill>
                <a:latin typeface="Orbitron"/>
              </a:rPr>
              <a:t>RIO DO SUL MAIS TEC</a:t>
            </a:r>
            <a:r>
              <a:rPr sz="1000" b="0">
                <a:solidFill>
                  <a:srgbClr val="8FA3C7"/>
                </a:solidFill>
                <a:latin typeface="Share Tech Mono"/>
              </a:rPr>
              <a:t>  ·  </a:t>
            </a:r>
            <a:r>
              <a:rPr sz="1000" b="1">
                <a:solidFill>
                  <a:srgbClr val="E6F7FF"/>
                </a:solidFill>
                <a:latin typeface="Orbitron"/>
              </a:rPr>
              <a:t>SENAI</a:t>
            </a:r>
            <a:r>
              <a:rPr sz="1000" b="0">
                <a:solidFill>
                  <a:srgbClr val="8FA3C7"/>
                </a:solidFill>
                <a:latin typeface="Share Tech Mono"/>
              </a:rPr>
              <a:t>  ·  </a:t>
            </a:r>
            <a:r>
              <a:rPr sz="1000" b="1">
                <a:solidFill>
                  <a:srgbClr val="FF2BD6"/>
                </a:solidFill>
                <a:latin typeface="Orbitron"/>
              </a:rPr>
              <a:t>&lt;LAB365&gt;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FA3C7"/>
                </a:solidFill>
                <a:latin typeface="Share Tech Mono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3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645920"/>
            <a:ext cx="5029200" cy="4114800"/>
          </a:xfrm>
          <a:prstGeom prst="ellipse">
            <a:avLst/>
          </a:prstGeom>
          <a:solidFill>
            <a:srgbClr val="7B2C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0" y="3108960"/>
            <a:ext cx="4114800" cy="3200400"/>
          </a:xfrm>
          <a:prstGeom prst="ellipse">
            <a:avLst/>
          </a:prstGeom>
          <a:solidFill>
            <a:srgbClr val="FF2BD6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914400"/>
            <a:ext cx="9144000" cy="9144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828800"/>
            <a:ext cx="9144000" cy="9144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2743200"/>
            <a:ext cx="9144000" cy="9144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3657600"/>
            <a:ext cx="9144000" cy="9144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4572000"/>
            <a:ext cx="9144000" cy="9144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F7FF"/>
                </a:solidFill>
                <a:latin typeface="Orbitron"/>
              </a:rPr>
              <a:t>RIO DO SUL </a:t>
            </a:r>
            <a:r>
              <a:rPr sz="1300" b="1">
                <a:solidFill>
                  <a:srgbClr val="22E6FF"/>
                </a:solidFill>
                <a:latin typeface="Orbitron"/>
              </a:rPr>
              <a:t>MAIS TEC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9260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2BD6"/>
                </a:solidFill>
                <a:latin typeface="Share Tech Mono"/>
              </a:rPr>
              <a:t>01 // O PROBLEMA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21792"/>
            <a:ext cx="8229600" cy="18288"/>
          </a:xfrm>
          <a:prstGeom prst="rect">
            <a:avLst/>
          </a:prstGeom>
          <a:solidFill>
            <a:srgbClr val="22E6F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E6F7FF"/>
                </a:solidFill>
                <a:latin typeface="Orbitron"/>
              </a:rPr>
              <a:t>Scooters rápidas perto das escolas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1600200"/>
            <a:ext cx="8229600" cy="804672"/>
          </a:xfrm>
          <a:prstGeom prst="roundRect">
            <a:avLst>
              <a:gd name="adj" fmla="val 18000"/>
            </a:avLst>
          </a:prstGeom>
          <a:solidFill>
            <a:srgbClr val="100A24">
              <a:alpha val="85000"/>
            </a:srgbClr>
          </a:solidFill>
          <a:ln w="15875">
            <a:solidFill>
              <a:srgbClr val="22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1600200"/>
            <a:ext cx="54864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2BD6"/>
                </a:solidFill>
                <a:latin typeface="Orbitron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1645920"/>
            <a:ext cx="72237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0">
                <a:solidFill>
                  <a:srgbClr val="E6F7FF"/>
                </a:solidFill>
                <a:latin typeface="Share Tech Mono"/>
              </a:rPr>
              <a:t>Muitos autopropelidos circulam em Rio do Sul, inclusive perto das escolas.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2569464"/>
            <a:ext cx="8229600" cy="804672"/>
          </a:xfrm>
          <a:prstGeom prst="roundRect">
            <a:avLst>
              <a:gd name="adj" fmla="val 18000"/>
            </a:avLst>
          </a:prstGeom>
          <a:solidFill>
            <a:srgbClr val="100A24">
              <a:alpha val="85000"/>
            </a:srgbClr>
          </a:solidFill>
          <a:ln w="15875">
            <a:solidFill>
              <a:srgbClr val="22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2569464"/>
            <a:ext cx="54864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2BD6"/>
                </a:solidFill>
                <a:latin typeface="Orbitron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2615184"/>
            <a:ext cx="72237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0">
                <a:solidFill>
                  <a:srgbClr val="E6F7FF"/>
                </a:solidFill>
                <a:latin typeface="Share Tech Mono"/>
              </a:rPr>
              <a:t>Crianças, jovens, pedestres e ciclistas correm risco ao atravessar.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538728"/>
            <a:ext cx="8229600" cy="804672"/>
          </a:xfrm>
          <a:prstGeom prst="roundRect">
            <a:avLst>
              <a:gd name="adj" fmla="val 18000"/>
            </a:avLst>
          </a:prstGeom>
          <a:solidFill>
            <a:srgbClr val="100A24">
              <a:alpha val="85000"/>
            </a:srgbClr>
          </a:solidFill>
          <a:ln w="15875">
            <a:solidFill>
              <a:srgbClr val="FF2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3538728"/>
            <a:ext cx="54864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2BD6"/>
                </a:solidFill>
                <a:latin typeface="Orbitron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3584448"/>
            <a:ext cx="72237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0">
                <a:solidFill>
                  <a:srgbClr val="E6F7FF"/>
                </a:solidFill>
                <a:latin typeface="Share Tech Mono"/>
              </a:rPr>
              <a:t>[X] de 9 alunos da nossa turma já viram isso acontecer.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75488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2E6FF"/>
                </a:solidFill>
                <a:latin typeface="Orbitron"/>
              </a:rPr>
              <a:t>RIO DO SUL MAIS TEC</a:t>
            </a:r>
            <a:r>
              <a:rPr sz="1000" b="0">
                <a:solidFill>
                  <a:srgbClr val="8FA3C7"/>
                </a:solidFill>
                <a:latin typeface="Share Tech Mono"/>
              </a:rPr>
              <a:t>  ·  </a:t>
            </a:r>
            <a:r>
              <a:rPr sz="1000" b="1">
                <a:solidFill>
                  <a:srgbClr val="E6F7FF"/>
                </a:solidFill>
                <a:latin typeface="Orbitron"/>
              </a:rPr>
              <a:t>SENAI</a:t>
            </a:r>
            <a:r>
              <a:rPr sz="1000" b="0">
                <a:solidFill>
                  <a:srgbClr val="8FA3C7"/>
                </a:solidFill>
                <a:latin typeface="Share Tech Mono"/>
              </a:rPr>
              <a:t>  ·  </a:t>
            </a:r>
            <a:r>
              <a:rPr sz="1000" b="1">
                <a:solidFill>
                  <a:srgbClr val="FF2BD6"/>
                </a:solidFill>
                <a:latin typeface="Orbitron"/>
              </a:rPr>
              <a:t>&lt;LAB365&gt;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FA3C7"/>
                </a:solidFill>
                <a:latin typeface="Share Tech Mono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3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645920"/>
            <a:ext cx="5029200" cy="4114800"/>
          </a:xfrm>
          <a:prstGeom prst="ellipse">
            <a:avLst/>
          </a:prstGeom>
          <a:solidFill>
            <a:srgbClr val="7B2C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0" y="3108960"/>
            <a:ext cx="4114800" cy="3200400"/>
          </a:xfrm>
          <a:prstGeom prst="ellipse">
            <a:avLst/>
          </a:prstGeom>
          <a:solidFill>
            <a:srgbClr val="FF2BD6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914400"/>
            <a:ext cx="9144000" cy="9144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828800"/>
            <a:ext cx="9144000" cy="9144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2743200"/>
            <a:ext cx="9144000" cy="9144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3657600"/>
            <a:ext cx="9144000" cy="9144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4572000"/>
            <a:ext cx="9144000" cy="9144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F7FF"/>
                </a:solidFill>
                <a:latin typeface="Orbitron"/>
              </a:rPr>
              <a:t>RIO DO SUL </a:t>
            </a:r>
            <a:r>
              <a:rPr sz="1300" b="1">
                <a:solidFill>
                  <a:srgbClr val="22E6FF"/>
                </a:solidFill>
                <a:latin typeface="Orbitron"/>
              </a:rPr>
              <a:t>MAIS TEC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9260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2BD6"/>
                </a:solidFill>
                <a:latin typeface="Share Tech Mono"/>
              </a:rPr>
              <a:t>02 // A SOLUÇÃO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21792"/>
            <a:ext cx="8229600" cy="18288"/>
          </a:xfrm>
          <a:prstGeom prst="rect">
            <a:avLst/>
          </a:prstGeom>
          <a:solidFill>
            <a:srgbClr val="22E6F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E6F7FF"/>
                </a:solidFill>
                <a:latin typeface="Orbitron"/>
              </a:rPr>
              <a:t>Como a Autotec funciona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1600200"/>
            <a:ext cx="8229600" cy="804672"/>
          </a:xfrm>
          <a:prstGeom prst="roundRect">
            <a:avLst>
              <a:gd name="adj" fmla="val 18000"/>
            </a:avLst>
          </a:prstGeom>
          <a:solidFill>
            <a:srgbClr val="100A24">
              <a:alpha val="85000"/>
            </a:srgbClr>
          </a:solidFill>
          <a:ln w="15875">
            <a:solidFill>
              <a:srgbClr val="22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1600200"/>
            <a:ext cx="54864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2BD6"/>
                </a:solidFill>
                <a:latin typeface="Orbitron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1645920"/>
            <a:ext cx="72237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0">
                <a:solidFill>
                  <a:srgbClr val="E6F7FF"/>
                </a:solidFill>
                <a:latin typeface="Share Tech Mono"/>
              </a:rPr>
              <a:t>A scooter tem GPS e conhece as zonas de risco da cidade.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2569464"/>
            <a:ext cx="8229600" cy="804672"/>
          </a:xfrm>
          <a:prstGeom prst="roundRect">
            <a:avLst>
              <a:gd name="adj" fmla="val 18000"/>
            </a:avLst>
          </a:prstGeom>
          <a:solidFill>
            <a:srgbClr val="100A24">
              <a:alpha val="85000"/>
            </a:srgbClr>
          </a:solidFill>
          <a:ln w="15875">
            <a:solidFill>
              <a:srgbClr val="22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2569464"/>
            <a:ext cx="54864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2BD6"/>
                </a:solidFill>
                <a:latin typeface="Orbitron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2615184"/>
            <a:ext cx="72237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0">
                <a:solidFill>
                  <a:srgbClr val="E6F7FF"/>
                </a:solidFill>
                <a:latin typeface="Share Tech Mono"/>
              </a:rPr>
              <a:t>Perto da escola, ela desacelera sozinha e para antes da faixa de pedestres.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538728"/>
            <a:ext cx="8229600" cy="804672"/>
          </a:xfrm>
          <a:prstGeom prst="roundRect">
            <a:avLst>
              <a:gd name="adj" fmla="val 18000"/>
            </a:avLst>
          </a:prstGeom>
          <a:solidFill>
            <a:srgbClr val="100A24">
              <a:alpha val="85000"/>
            </a:srgbClr>
          </a:solidFill>
          <a:ln w="15875">
            <a:solidFill>
              <a:srgbClr val="22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3538728"/>
            <a:ext cx="54864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2BD6"/>
                </a:solidFill>
                <a:latin typeface="Orbitron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3584448"/>
            <a:ext cx="72237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0">
                <a:solidFill>
                  <a:srgbClr val="E6F7FF"/>
                </a:solidFill>
                <a:latin typeface="Share Tech Mono"/>
              </a:rPr>
              <a:t>Quem estava no limite de velocidade segue viagem normalmente.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75488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2E6FF"/>
                </a:solidFill>
                <a:latin typeface="Orbitron"/>
              </a:rPr>
              <a:t>RIO DO SUL MAIS TEC</a:t>
            </a:r>
            <a:r>
              <a:rPr sz="1000" b="0">
                <a:solidFill>
                  <a:srgbClr val="8FA3C7"/>
                </a:solidFill>
                <a:latin typeface="Share Tech Mono"/>
              </a:rPr>
              <a:t>  ·  </a:t>
            </a:r>
            <a:r>
              <a:rPr sz="1000" b="1">
                <a:solidFill>
                  <a:srgbClr val="E6F7FF"/>
                </a:solidFill>
                <a:latin typeface="Orbitron"/>
              </a:rPr>
              <a:t>SENAI</a:t>
            </a:r>
            <a:r>
              <a:rPr sz="1000" b="0">
                <a:solidFill>
                  <a:srgbClr val="8FA3C7"/>
                </a:solidFill>
                <a:latin typeface="Share Tech Mono"/>
              </a:rPr>
              <a:t>  ·  </a:t>
            </a:r>
            <a:r>
              <a:rPr sz="1000" b="1">
                <a:solidFill>
                  <a:srgbClr val="FF2BD6"/>
                </a:solidFill>
                <a:latin typeface="Orbitron"/>
              </a:rPr>
              <a:t>&lt;LAB365&gt;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FA3C7"/>
                </a:solidFill>
                <a:latin typeface="Share Tech Mono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3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645920"/>
            <a:ext cx="5029200" cy="4114800"/>
          </a:xfrm>
          <a:prstGeom prst="ellipse">
            <a:avLst/>
          </a:prstGeom>
          <a:solidFill>
            <a:srgbClr val="7B2C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0" y="3108960"/>
            <a:ext cx="4114800" cy="3200400"/>
          </a:xfrm>
          <a:prstGeom prst="ellipse">
            <a:avLst/>
          </a:prstGeom>
          <a:solidFill>
            <a:srgbClr val="FF2BD6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914400"/>
            <a:ext cx="9144000" cy="9144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828800"/>
            <a:ext cx="9144000" cy="9144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2743200"/>
            <a:ext cx="9144000" cy="9144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3657600"/>
            <a:ext cx="9144000" cy="9144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4572000"/>
            <a:ext cx="9144000" cy="9144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F7FF"/>
                </a:solidFill>
                <a:latin typeface="Orbitron"/>
              </a:rPr>
              <a:t>RIO DO SUL </a:t>
            </a:r>
            <a:r>
              <a:rPr sz="1300" b="1">
                <a:solidFill>
                  <a:srgbClr val="22E6FF"/>
                </a:solidFill>
                <a:latin typeface="Orbitron"/>
              </a:rPr>
              <a:t>MAIS TEC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9260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2BD6"/>
                </a:solidFill>
                <a:latin typeface="Share Tech Mono"/>
              </a:rPr>
              <a:t>03 // FISCALIZAÇÃO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21792"/>
            <a:ext cx="8229600" cy="18288"/>
          </a:xfrm>
          <a:prstGeom prst="rect">
            <a:avLst/>
          </a:prstGeom>
          <a:solidFill>
            <a:srgbClr val="22E6F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E6F7FF"/>
                </a:solidFill>
                <a:latin typeface="Orbitron"/>
              </a:rPr>
              <a:t>Quem passa do limite, para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1600200"/>
            <a:ext cx="8229600" cy="804672"/>
          </a:xfrm>
          <a:prstGeom prst="roundRect">
            <a:avLst>
              <a:gd name="adj" fmla="val 18000"/>
            </a:avLst>
          </a:prstGeom>
          <a:solidFill>
            <a:srgbClr val="100A24">
              <a:alpha val="85000"/>
            </a:srgbClr>
          </a:solidFill>
          <a:ln w="15875">
            <a:solidFill>
              <a:srgbClr val="22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1600200"/>
            <a:ext cx="54864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2BD6"/>
                </a:solidFill>
                <a:latin typeface="Orbitron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1645920"/>
            <a:ext cx="72237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0">
                <a:solidFill>
                  <a:srgbClr val="E6F7FF"/>
                </a:solidFill>
                <a:latin typeface="Share Tech Mono"/>
              </a:rPr>
              <a:t>Se a scooter estava acima do limite, a roda traseira trava.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2569464"/>
            <a:ext cx="8229600" cy="804672"/>
          </a:xfrm>
          <a:prstGeom prst="roundRect">
            <a:avLst>
              <a:gd name="adj" fmla="val 18000"/>
            </a:avLst>
          </a:prstGeom>
          <a:solidFill>
            <a:srgbClr val="100A24">
              <a:alpha val="85000"/>
            </a:srgbClr>
          </a:solidFill>
          <a:ln w="15875">
            <a:solidFill>
              <a:srgbClr val="22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2569464"/>
            <a:ext cx="54864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2BD6"/>
                </a:solidFill>
                <a:latin typeface="Orbitron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2615184"/>
            <a:ext cx="72237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0">
                <a:solidFill>
                  <a:srgbClr val="E6F7FF"/>
                </a:solidFill>
                <a:latin typeface="Share Tech Mono"/>
              </a:rPr>
              <a:t>A polícia recebe um alerta e vai até o local desbloquear a scooter.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538728"/>
            <a:ext cx="8229600" cy="804672"/>
          </a:xfrm>
          <a:prstGeom prst="roundRect">
            <a:avLst>
              <a:gd name="adj" fmla="val 18000"/>
            </a:avLst>
          </a:prstGeom>
          <a:solidFill>
            <a:srgbClr val="100A24">
              <a:alpha val="85000"/>
            </a:srgbClr>
          </a:solidFill>
          <a:ln w="15875">
            <a:solidFill>
              <a:srgbClr val="22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3538728"/>
            <a:ext cx="54864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2BD6"/>
                </a:solidFill>
                <a:latin typeface="Orbitron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3584448"/>
            <a:ext cx="72237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0">
                <a:solidFill>
                  <a:srgbClr val="E6F7FF"/>
                </a:solidFill>
                <a:latin typeface="Share Tech Mono"/>
              </a:rPr>
              <a:t>As autopeças instalam o sistema, e vamos propor as zonas à Câmara de Vereadores.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75488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2E6FF"/>
                </a:solidFill>
                <a:latin typeface="Orbitron"/>
              </a:rPr>
              <a:t>RIO DO SUL MAIS TEC</a:t>
            </a:r>
            <a:r>
              <a:rPr sz="1000" b="0">
                <a:solidFill>
                  <a:srgbClr val="8FA3C7"/>
                </a:solidFill>
                <a:latin typeface="Share Tech Mono"/>
              </a:rPr>
              <a:t>  ·  </a:t>
            </a:r>
            <a:r>
              <a:rPr sz="1000" b="1">
                <a:solidFill>
                  <a:srgbClr val="E6F7FF"/>
                </a:solidFill>
                <a:latin typeface="Orbitron"/>
              </a:rPr>
              <a:t>SENAI</a:t>
            </a:r>
            <a:r>
              <a:rPr sz="1000" b="0">
                <a:solidFill>
                  <a:srgbClr val="8FA3C7"/>
                </a:solidFill>
                <a:latin typeface="Share Tech Mono"/>
              </a:rPr>
              <a:t>  ·  </a:t>
            </a:r>
            <a:r>
              <a:rPr sz="1000" b="1">
                <a:solidFill>
                  <a:srgbClr val="FF2BD6"/>
                </a:solidFill>
                <a:latin typeface="Orbitron"/>
              </a:rPr>
              <a:t>&lt;LAB365&gt;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FA3C7"/>
                </a:solidFill>
                <a:latin typeface="Share Tech Mono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3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645920"/>
            <a:ext cx="5029200" cy="4114800"/>
          </a:xfrm>
          <a:prstGeom prst="ellipse">
            <a:avLst/>
          </a:prstGeom>
          <a:solidFill>
            <a:srgbClr val="7B2C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0" y="3108960"/>
            <a:ext cx="4114800" cy="3200400"/>
          </a:xfrm>
          <a:prstGeom prst="ellipse">
            <a:avLst/>
          </a:prstGeom>
          <a:solidFill>
            <a:srgbClr val="FF2BD6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0" y="0"/>
            <a:ext cx="9144" cy="5143500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914400"/>
            <a:ext cx="9144000" cy="9144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828800"/>
            <a:ext cx="9144000" cy="9144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2743200"/>
            <a:ext cx="9144000" cy="9144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3657600"/>
            <a:ext cx="9144000" cy="9144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4572000"/>
            <a:ext cx="9144000" cy="9144"/>
          </a:xfrm>
          <a:prstGeom prst="rect">
            <a:avLst/>
          </a:prstGeom>
          <a:solidFill>
            <a:srgbClr val="22E6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F7FF"/>
                </a:solidFill>
                <a:latin typeface="Orbitron"/>
              </a:rPr>
              <a:t>RIO DO SUL </a:t>
            </a:r>
            <a:r>
              <a:rPr sz="1300" b="1">
                <a:solidFill>
                  <a:srgbClr val="22E6FF"/>
                </a:solidFill>
                <a:latin typeface="Orbitron"/>
              </a:rPr>
              <a:t>MAIS TEC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9260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2BD6"/>
                </a:solidFill>
                <a:latin typeface="Share Tech Mono"/>
              </a:rPr>
              <a:t>04 // POR QUE A AUTOTEC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21792"/>
            <a:ext cx="8229600" cy="18288"/>
          </a:xfrm>
          <a:prstGeom prst="rect">
            <a:avLst/>
          </a:prstGeom>
          <a:solidFill>
            <a:srgbClr val="22E6F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E6F7FF"/>
                </a:solidFill>
                <a:latin typeface="Orbitron"/>
              </a:rPr>
              <a:t>Prevenir antes do primeiro acidente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1600200"/>
            <a:ext cx="8229600" cy="804672"/>
          </a:xfrm>
          <a:prstGeom prst="roundRect">
            <a:avLst>
              <a:gd name="adj" fmla="val 18000"/>
            </a:avLst>
          </a:prstGeom>
          <a:solidFill>
            <a:srgbClr val="100A24">
              <a:alpha val="85000"/>
            </a:srgbClr>
          </a:solidFill>
          <a:ln w="15875">
            <a:solidFill>
              <a:srgbClr val="22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1600200"/>
            <a:ext cx="54864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2BD6"/>
                </a:solidFill>
                <a:latin typeface="Orbitron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1645920"/>
            <a:ext cx="72237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0">
                <a:solidFill>
                  <a:srgbClr val="E6F7FF"/>
                </a:solidFill>
                <a:latin typeface="Share Tech Mono"/>
              </a:rPr>
              <a:t>Protege as crianças e também os pilotos, que muitas vezes são adolescentes.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2569464"/>
            <a:ext cx="8229600" cy="804672"/>
          </a:xfrm>
          <a:prstGeom prst="roundRect">
            <a:avLst>
              <a:gd name="adj" fmla="val 18000"/>
            </a:avLst>
          </a:prstGeom>
          <a:solidFill>
            <a:srgbClr val="100A24">
              <a:alpha val="85000"/>
            </a:srgbClr>
          </a:solidFill>
          <a:ln w="15875">
            <a:solidFill>
              <a:srgbClr val="22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2569464"/>
            <a:ext cx="54864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2BD6"/>
                </a:solidFill>
                <a:latin typeface="Orbitron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2615184"/>
            <a:ext cx="72237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0">
                <a:solidFill>
                  <a:srgbClr val="E6F7FF"/>
                </a:solidFill>
                <a:latin typeface="Share Tech Mono"/>
              </a:rPr>
              <a:t>Ainda não há notícia de acidente aqui, e queremos que continue assim.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538728"/>
            <a:ext cx="8229600" cy="804672"/>
          </a:xfrm>
          <a:prstGeom prst="roundRect">
            <a:avLst>
              <a:gd name="adj" fmla="val 18000"/>
            </a:avLst>
          </a:prstGeom>
          <a:solidFill>
            <a:srgbClr val="100A24">
              <a:alpha val="85000"/>
            </a:srgbClr>
          </a:solidFill>
          <a:ln w="15875">
            <a:solidFill>
              <a:srgbClr val="22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3538728"/>
            <a:ext cx="54864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2BD6"/>
                </a:solidFill>
                <a:latin typeface="Orbitron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3584448"/>
            <a:ext cx="72237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0">
                <a:solidFill>
                  <a:srgbClr val="E6F7FF"/>
                </a:solidFill>
                <a:latin typeface="Share Tech Mono"/>
              </a:rPr>
              <a:t>Autotec: a tecnologia de Rio do Sul a favor de quem atravessa.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75488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2E6FF"/>
                </a:solidFill>
                <a:latin typeface="Orbitron"/>
              </a:rPr>
              <a:t>RIO DO SUL MAIS TEC</a:t>
            </a:r>
            <a:r>
              <a:rPr sz="1000" b="0">
                <a:solidFill>
                  <a:srgbClr val="8FA3C7"/>
                </a:solidFill>
                <a:latin typeface="Share Tech Mono"/>
              </a:rPr>
              <a:t>  ·  </a:t>
            </a:r>
            <a:r>
              <a:rPr sz="1000" b="1">
                <a:solidFill>
                  <a:srgbClr val="E6F7FF"/>
                </a:solidFill>
                <a:latin typeface="Orbitron"/>
              </a:rPr>
              <a:t>SENAI</a:t>
            </a:r>
            <a:r>
              <a:rPr sz="1000" b="0">
                <a:solidFill>
                  <a:srgbClr val="8FA3C7"/>
                </a:solidFill>
                <a:latin typeface="Share Tech Mono"/>
              </a:rPr>
              <a:t>  ·  </a:t>
            </a:r>
            <a:r>
              <a:rPr sz="1000" b="1">
                <a:solidFill>
                  <a:srgbClr val="FF2BD6"/>
                </a:solidFill>
                <a:latin typeface="Orbitron"/>
              </a:rPr>
              <a:t>&lt;LAB365&gt;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FA3C7"/>
                </a:solidFill>
                <a:latin typeface="Share Tech Mono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